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D3D"/>
                </a:solidFill>
                <a:latin typeface="Arial"/>
              </a:defRPr>
            </a:pPr>
            <a:r>
              <a:rPr lang="nn-NO" sz="1100" b="0" i="0" u="none" strike="noStrike">
                <a:solidFill>
                  <a:srgbClr val="1E2D3D"/>
                </a:solidFill>
                <a:latin typeface="Arial"/>
              </a:rPr>
              <a:t>PSNR (dB) — Model vs. Bicubic Baseline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Bicubic (Baseline)</c:v>
                </c:pt>
              </c:strCache>
            </c:strRef>
          </c:tx>
          <c:spPr>
            <a:solidFill>
              <a:srgbClr val="5B6E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31.12</c:v>
                </c:pt>
                <c:pt idx="1">
                  <c:v>31.18</c:v>
                </c:pt>
                <c:pt idx="2">
                  <c:v>31.21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75-4C8C-97B8-92F68B5FF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TemporalSRNet</c:v>
                </c:pt>
              </c:strCache>
            </c:strRef>
          </c:tx>
          <c:spPr>
            <a:solidFill>
              <a:srgbClr val="E850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32.08</c:v>
                </c:pt>
                <c:pt idx="1">
                  <c:v>32.94</c:v>
                </c:pt>
                <c:pt idx="2">
                  <c:v>33.47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75-4C8C-97B8-92F68B5FF3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29"/>
        </c:scaling>
        <c:delete val="0"/>
        <c:axPos val="l"/>
        <c:majorGridlines>
          <c:spPr>
            <a:ln w="6350" cap="flat">
              <a:solidFill>
                <a:srgbClr val="E4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2D3D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2D3D"/>
                </a:solidFill>
                <a:latin typeface="Arial"/>
              </a:rPr>
              <a:t>Charbonnier Loss — Train &amp; Val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5400" cap="flat">
              <a:solidFill>
                <a:srgbClr val="1A2E4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2E45"/>
              </a:solidFill>
              <a:ln w="9525" cap="flat">
                <a:solidFill>
                  <a:srgbClr val="1A2E45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Ep1 B25</c:v>
                </c:pt>
                <c:pt idx="1">
                  <c:v>Ep1 B50</c:v>
                </c:pt>
                <c:pt idx="2">
                  <c:v>Ep1 B100</c:v>
                </c:pt>
                <c:pt idx="3">
                  <c:v>Ep1 B200</c:v>
                </c:pt>
                <c:pt idx="4">
                  <c:v>Ep1 B300</c:v>
                </c:pt>
                <c:pt idx="5">
                  <c:v>Ep2 B100</c:v>
                </c:pt>
                <c:pt idx="6">
                  <c:v>Ep2 B200</c:v>
                </c:pt>
                <c:pt idx="7">
                  <c:v>Ep2 B300</c:v>
                </c:pt>
                <c:pt idx="8">
                  <c:v>Ep3 B100</c:v>
                </c:pt>
                <c:pt idx="9">
                  <c:v>Ep3 B200</c:v>
                </c:pt>
                <c:pt idx="10">
                  <c:v>Ep3 B300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8.2000000000000003E-2</c:v>
                </c:pt>
                <c:pt idx="1">
                  <c:v>7.0999999999999994E-2</c:v>
                </c:pt>
                <c:pt idx="2">
                  <c:v>6.3E-2</c:v>
                </c:pt>
                <c:pt idx="3">
                  <c:v>5.8000000000000003E-2</c:v>
                </c:pt>
                <c:pt idx="4">
                  <c:v>5.3999999999999999E-2</c:v>
                </c:pt>
                <c:pt idx="5">
                  <c:v>4.9000000000000002E-2</c:v>
                </c:pt>
                <c:pt idx="6">
                  <c:v>4.5999999999999999E-2</c:v>
                </c:pt>
                <c:pt idx="7">
                  <c:v>4.2999999999999997E-2</c:v>
                </c:pt>
                <c:pt idx="8">
                  <c:v>4.1000000000000002E-2</c:v>
                </c:pt>
                <c:pt idx="9">
                  <c:v>3.9E-2</c:v>
                </c:pt>
                <c:pt idx="10">
                  <c:v>3.7999999999999999E-2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48E-4B10-99F4-89B6808F87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25400" cap="flat">
              <a:solidFill>
                <a:srgbClr val="F57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734A"/>
              </a:solidFill>
              <a:ln w="9525" cap="flat">
                <a:solidFill>
                  <a:srgbClr val="F5734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Ep1 B25</c:v>
                </c:pt>
                <c:pt idx="1">
                  <c:v>Ep1 B50</c:v>
                </c:pt>
                <c:pt idx="2">
                  <c:v>Ep1 B100</c:v>
                </c:pt>
                <c:pt idx="3">
                  <c:v>Ep1 B200</c:v>
                </c:pt>
                <c:pt idx="4">
                  <c:v>Ep1 B300</c:v>
                </c:pt>
                <c:pt idx="5">
                  <c:v>Ep2 B100</c:v>
                </c:pt>
                <c:pt idx="6">
                  <c:v>Ep2 B200</c:v>
                </c:pt>
                <c:pt idx="7">
                  <c:v>Ep2 B300</c:v>
                </c:pt>
                <c:pt idx="8">
                  <c:v>Ep3 B100</c:v>
                </c:pt>
                <c:pt idx="9">
                  <c:v>Ep3 B200</c:v>
                </c:pt>
                <c:pt idx="10">
                  <c:v>Ep3 B300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9.0999999999999998E-2</c:v>
                </c:pt>
                <c:pt idx="1">
                  <c:v>7.8E-2</c:v>
                </c:pt>
                <c:pt idx="2">
                  <c:v>6.9000000000000006E-2</c:v>
                </c:pt>
                <c:pt idx="3">
                  <c:v>6.3E-2</c:v>
                </c:pt>
                <c:pt idx="4">
                  <c:v>5.8999999999999997E-2</c:v>
                </c:pt>
                <c:pt idx="5">
                  <c:v>5.2999999999999999E-2</c:v>
                </c:pt>
                <c:pt idx="6">
                  <c:v>0.05</c:v>
                </c:pt>
                <c:pt idx="7">
                  <c:v>4.7E-2</c:v>
                </c:pt>
                <c:pt idx="8">
                  <c:v>4.4999999999999998E-2</c:v>
                </c:pt>
                <c:pt idx="9">
                  <c:v>4.2999999999999997E-2</c:v>
                </c:pt>
                <c:pt idx="10">
                  <c:v>4.2000000000000003E-2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48E-4B10-99F4-89B6808F87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63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F5734A"/>
          </a:solidFill>
          <a:ln w="12700">
            <a:solidFill>
              <a:srgbClr val="F57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4592"/>
            <a:ext cx="1737360" cy="17373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571750"/>
            <a:ext cx="2743200" cy="2571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ACADEMIC PROJECT — 4DS G5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57200" y="77724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Mini-DLSS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457200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Video Super-Resolution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57200" y="2331720"/>
            <a:ext cx="5303520" cy="0"/>
          </a:xfrm>
          <a:prstGeom prst="line">
            <a:avLst/>
          </a:prstGeom>
          <a:noFill/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25420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011680" y="2542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Gharbi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2926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DS – Group 5 Anglo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3310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011680" y="3310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Khemais Abdallah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369417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011680" y="36941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46520" y="4480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GFI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upscaling matter in modern real-time graphics?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1645920" cy="256032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BACKGROUND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DLSS?
</a:t>
            </a: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NVIDIA's Deep Learning Super Sampling (DLSS) uses AI to render frames at a lower resolution and upscale them to display resolution — achieving near-native image quality at a fraction of the compute cost.
</a:t>
            </a: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
</a:t>
            </a: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rendering is bound by GPU budget. Upscaling via bicubic or bilinear interpolation introduces blur and aliasing. Deep-learning approaches recover sharp detail and maintain temporal consistency — making games look better without sacrificing frame rate.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143000"/>
            <a:ext cx="44348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1371600" cy="256032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261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7720" y="1572768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Interpolation-based upscaling (bicubic, bilinear) is fast but cannot recover high-frequency detail lost during downsampling. This project investigates whether a lightweight deep network can outperform bicubic on 2× upscaling of gameplay footage.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926080"/>
            <a:ext cx="4434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3044952"/>
            <a:ext cx="1554480" cy="256032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3044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PROJECT SCOPE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17720" y="3273552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LR frames at 540p (960×540)
</a:t>
            </a: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HR frames at 1080p (1920×1080)
</a:t>
            </a: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factor: ×2  |  Patch size: 64×64 LR
</a:t>
            </a: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PyTorch + AMP
</a:t>
            </a: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Gameplay video frames (Spider-Man)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84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743200" cy="2926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SR Network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lightweight CNN that fuses the current low-resolution frame with the previous high-resolution frame to produce a temporally consistent upscale.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743200" cy="2926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 Bicubic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38528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Quantitatively compare the model's output against the bicubic interpolation baseline using PSNR on held-out validation clips.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170432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743200" cy="29260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936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Training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938528"/>
            <a:ext cx="2487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within academic compute constraints: bounded epochs (×3), mixed-precision (AMP), gradient clipping, and cosine LR scheduling.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520440"/>
            <a:ext cx="868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Train Batches: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2×10⁻⁴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9480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626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83080" y="4626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08960" y="4626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26280" y="4626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4626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69480" y="4626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Charbonnier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84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Temporal Super-Resolution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fuses spatial and temporal information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874520"/>
            <a:ext cx="173736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" y="192938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Frame (t)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" y="231343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540p input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 × 540 px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38528" y="2331720"/>
            <a:ext cx="256032" cy="0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220370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E84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12848" y="1874520"/>
            <a:ext cx="173736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76856" y="192938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Frame (t−1)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76856" y="231343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1080p output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 × 1080 px (temporal memory)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50208" y="2331720"/>
            <a:ext cx="256032" cy="0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0" y="220370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E84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24528" y="1874520"/>
            <a:ext cx="1737360" cy="9144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88536" y="192938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 Upsample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Concatenate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88536" y="231343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LR_up ∥ HR_prev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dim: 3+3 = 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61888" y="2331720"/>
            <a:ext cx="256032" cy="0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220370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E84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6208" y="1874520"/>
            <a:ext cx="1737360" cy="914400"/>
          </a:xfrm>
          <a:prstGeom prst="rect">
            <a:avLst/>
          </a:prstGeom>
          <a:solidFill>
            <a:srgbClr val="1B7A4E"/>
          </a:solidFill>
          <a:ln w="12700">
            <a:solidFill>
              <a:srgbClr val="1B7A4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0216" y="192938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TemporalSRNet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0216" y="231343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→ 6 ResBlocks → Tail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learning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38160" y="1874520"/>
            <a:ext cx="914400" cy="914400"/>
          </a:xfrm>
          <a:prstGeom prst="rect">
            <a:avLst/>
          </a:prstGeom>
          <a:solidFill>
            <a:srgbClr val="0D4A2E"/>
          </a:solidFill>
          <a:ln w="12700">
            <a:solidFill>
              <a:srgbClr val="0D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3816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1000" y="2331720"/>
            <a:ext cx="137160" cy="0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01000" y="220370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E84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" y="299923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" y="3063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 (TemporalSRNet)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" y="3429000"/>
            <a:ext cx="3886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</a:t>
            </a: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Conv2d(6→48) + LeakyReLU(0.1)
</a:t>
            </a: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</a:t>
            </a: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ResidualBlock(48)
         </a:t>
            </a:r>
            <a:r>
              <a:rPr lang="en-US" sz="105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block: Conv→LReLU→Conv, scaled by 0.1
</a:t>
            </a: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Tail: </a:t>
            </a: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Conv2d(48→3), residual added to bicubic
</a:t>
            </a: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clamp(0, 1) — valid RGB range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62272" y="2999232"/>
            <a:ext cx="44531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99432" y="30632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Optimization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99432" y="3429000"/>
            <a:ext cx="4160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Charbonnier
</a:t>
            </a:r>
            <a:r>
              <a:rPr lang="en-US" sz="1000" i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L(p, t) = √((p−t)² + ε²)   where ε = 10⁻³
</a:t>
            </a:r>
            <a:r>
              <a:rPr lang="en-US" sz="1000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Smooth approximation of L1 — more robust to outliers than MSE
</a:t>
            </a: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 (lr = 2×10⁻⁴, wd = 10⁻⁴)
</a:t>
            </a: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 </a:t>
            </a: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(T_max = 3 epochs)
</a:t>
            </a: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AMP: </a:t>
            </a: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Mixed-precision (float16) on CUDA for speed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84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5786" y="1225296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— Step by Step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755648"/>
            <a:ext cx="310896" cy="310896"/>
          </a:xfrm>
          <a:prstGeom prst="ellipse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7373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Source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975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Spider-Man gameplay video recorded at 1080p / 60 fps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414016"/>
            <a:ext cx="310896" cy="310896"/>
          </a:xfrm>
          <a:prstGeom prst="ellipse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395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Extraction (extract_frames.py)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26334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reads each frame as HR (1920×1080). LR version created by bicubic downsampling to 960×540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3072384"/>
            <a:ext cx="310896" cy="310896"/>
          </a:xfrm>
          <a:prstGeom prst="ellipse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0540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Alignment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LR frames are name-matched to create {LR_t, HR_t, HR_t−1} triplets. Unpaired frames are logged and excluded.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730752"/>
            <a:ext cx="310896" cy="310896"/>
          </a:xfrm>
          <a:prstGeom prst="ellipse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712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Patch Cropping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3950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LR patch → 128×128 HR patch sampled from a random aligned position. Augments data without loading full frames into VRAM.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4389120"/>
            <a:ext cx="310896" cy="310896"/>
          </a:xfrm>
          <a:prstGeom prst="ellipse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4370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" y="46085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divided by 255.0 → [0, 1] float32 tensors with shape [C, H, W]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1170432"/>
            <a:ext cx="44348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1261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Statistics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45920"/>
          <a:ext cx="4160520" cy="19202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resolution (HR)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 × 1080 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resolution (LR)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 × 540 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factor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patch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× 64 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× 128 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of frame 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4480560" y="3328416"/>
            <a:ext cx="4434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66344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Triplet Structure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663440" y="3822192"/>
            <a:ext cx="1234440" cy="5486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663440" y="38221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HR (t−1)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temporal ref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035040" y="3822192"/>
            <a:ext cx="1234440" cy="5486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035040" y="38221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LR (t)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current input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897880" y="4096512"/>
            <a:ext cx="137160" cy="0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897880" y="396849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E84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269480" y="4096512"/>
            <a:ext cx="502920" cy="0"/>
          </a:xfrm>
          <a:prstGeom prst="line">
            <a:avLst/>
          </a:prstGeom>
          <a:noFill/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726680" y="396849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01A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863840" y="3822192"/>
            <a:ext cx="914400" cy="548640"/>
          </a:xfrm>
          <a:prstGeom prst="rect">
            <a:avLst/>
          </a:prstGeom>
          <a:solidFill>
            <a:srgbClr val="1B7A4E"/>
          </a:solidFill>
          <a:ln w="12700">
            <a:solidFill>
              <a:srgbClr val="1B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863840" y="38221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SR Out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(t)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84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TemporalSRNet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4663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Layer-by-Layer Breakdown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4389120" cy="217627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/ Operation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Shape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LR_up ∥ HR_prev (concat)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× 128 × 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– Conv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Conv2d(6, 48, k=3, p=1)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× 128 × 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– 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LeakyReLU(α=0.1)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× 128 × 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 ×6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E85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Conv→LReLU→Conv × 0.1 + skip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× 128 × 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 – Conv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Conv2d(48, 3, k=3, p=1)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128 × 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LR_up + residual, clamp(0,1)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128 × 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858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~88,000 trainable parameters  (lightweight by design)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74920" y="1170432"/>
            <a:ext cx="38404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57800" y="12344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 (×6)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76672" y="1618488"/>
            <a:ext cx="1389888" cy="31089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76672" y="161848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(x)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71616" y="1929384"/>
            <a:ext cx="0" cy="82296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76672" y="2011680"/>
            <a:ext cx="1389888" cy="31089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76672" y="2011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Conv 3×3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71616" y="2322576"/>
            <a:ext cx="0" cy="82296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376672" y="2404872"/>
            <a:ext cx="1389888" cy="31089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76672" y="240487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LeakyReLU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71616" y="2715768"/>
            <a:ext cx="0" cy="82296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376672" y="2798064"/>
            <a:ext cx="1389888" cy="31089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376672" y="27980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Conv 3×3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71616" y="3108960"/>
            <a:ext cx="0" cy="82296"/>
          </a:xfrm>
          <a:prstGeom prst="line">
            <a:avLst/>
          </a:prstGeom>
          <a:noFill/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376672" y="3191256"/>
            <a:ext cx="1389888" cy="310896"/>
          </a:xfrm>
          <a:prstGeom prst="rect">
            <a:avLst/>
          </a:prstGeom>
          <a:solidFill>
            <a:srgbClr val="5B6E84"/>
          </a:solidFill>
          <a:ln w="12700">
            <a:solidFill>
              <a:srgbClr val="5B6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376672" y="31912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× 0.1  →  + Input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175504" y="1773936"/>
            <a:ext cx="0" cy="1572768"/>
          </a:xfrm>
          <a:prstGeom prst="line">
            <a:avLst/>
          </a:prstGeom>
          <a:noFill/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175504" y="1773936"/>
            <a:ext cx="201168" cy="0"/>
          </a:xfrm>
          <a:prstGeom prst="line">
            <a:avLst/>
          </a:prstGeom>
          <a:noFill/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175504" y="3346704"/>
            <a:ext cx="201168" cy="0"/>
          </a:xfrm>
          <a:prstGeom prst="line">
            <a:avLst/>
          </a:prstGeom>
          <a:noFill/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425696" y="233172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8501A"/>
                </a:solidFill>
              </a:rPr>
              <a:t>skip</a:t>
            </a:r>
            <a:endParaRPr lang="en-US" sz="800" dirty="0"/>
          </a:p>
          <a:p>
            <a:pPr marL="0" indent="0" algn="r">
              <a:buNone/>
            </a:pPr>
            <a:r>
              <a:rPr lang="en-US" sz="800" i="1" dirty="0">
                <a:solidFill>
                  <a:srgbClr val="E8501A"/>
                </a:solidFill>
              </a:rPr>
              <a:t>connection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74920" y="3675888"/>
            <a:ext cx="3840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25780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Charbonnier Loss vs. MSE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93792" y="4041648"/>
          <a:ext cx="3611880" cy="1143000"/>
        </p:xfrm>
        <a:graphic>
          <a:graphicData uri="http://schemas.openxmlformats.org/drawingml/2006/table">
            <a:tbl>
              <a:tblPr/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Charbonnier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robust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at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0 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&amp; stable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tendency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ESRGAN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84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228600" y="1170432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228600" y="4114800"/>
          <a:ext cx="5029200" cy="86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40680" y="1170432"/>
            <a:ext cx="3474720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577840" y="126187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Results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664208"/>
          <a:ext cx="3200400" cy="2365248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TemporalSRNet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– Epoch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31.12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32.08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– Epoch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31.18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32.94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– Epoch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31.21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33.47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PSNR (final)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+2.26 dB 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 (final)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 (final)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B6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577840" y="3986784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+2.26 dB PSNR gain over bicubic is a meaningful improvement. In video super-resolution literature, gains above +1 dB at 2× scale are considered significant for lightweight models trained on limited data.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84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F5734A"/>
          </a:solidFill>
          <a:ln w="12700">
            <a:solidFill>
              <a:srgbClr val="F57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6949440" cy="0"/>
          </a:xfrm>
          <a:prstGeom prst="line">
            <a:avLst/>
          </a:prstGeom>
          <a:noFill/>
          <a:ln w="12700">
            <a:solidFill>
              <a:srgbClr val="E85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286000" cy="2487168"/>
          </a:xfrm>
          <a:prstGeom prst="rect">
            <a:avLst/>
          </a:prstGeom>
          <a:solidFill>
            <a:srgbClr val="1A2E45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context works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148840"/>
            <a:ext cx="2084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the previous HR frame as a temporal reference consistently outperforms single-frame bicubic upscaling. The model learns to re-use sharp details from prior frames.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07208" y="1078992"/>
            <a:ext cx="2286000" cy="2487168"/>
          </a:xfrm>
          <a:prstGeom prst="rect">
            <a:avLst/>
          </a:prstGeom>
          <a:solidFill>
            <a:srgbClr val="1A2E45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16936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16936" y="169164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gain of +2.26 dB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16936" y="2148840"/>
            <a:ext cx="2084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in only 3 epochs with 300 training batches per epoch — demonstrating that even a shallow residual network benefits significantly from temporal information.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94376" y="1078992"/>
            <a:ext cx="2286000" cy="2487168"/>
          </a:xfrm>
          <a:prstGeom prst="rect">
            <a:avLst/>
          </a:prstGeom>
          <a:solidFill>
            <a:srgbClr val="1A2E45"/>
          </a:solidFill>
          <a:ln w="1270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04104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04104" y="169164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Charbonnier is practical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04104" y="2148840"/>
            <a:ext cx="2084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smooth L1 surrogate provided stable training gradients. Train and validation losses converged without spikes, even with mixed-precision (AMP) enabled.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041648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more epochs on a larger, diverse dataset
</a:t>
            </a:r>
            <a:r>
              <a:rPr lang="en-US" sz="950" b="1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optical-flow-based motion compensation for sharper temporal alignment
</a:t>
            </a:r>
            <a:r>
              <a:rPr lang="en-US" sz="950" b="1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perceptual metrics (SSIM, LPIPS) beyond PSNR
</a:t>
            </a:r>
            <a:r>
              <a:rPr lang="en-US" sz="950" b="1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attention mechanisms (CBAM, transformer blocks) to boost detail recovery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768096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486460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GFI University  |  4DS G5 Anglo  |  Ahmed Gharbi  |  2025–2026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1231</Words>
  <Application>Microsoft Office PowerPoint</Application>
  <PresentationFormat>On-screen Show (16:9)</PresentationFormat>
  <Paragraphs>219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Mini-DLSS: Spatial-Temporal Video Upscaling</dc:title>
  <dc:subject>PptxGenJS Presentation</dc:subject>
  <dc:creator>Ahmed Gharbi</dc:creator>
  <cp:lastModifiedBy>Ahmed GHARBI</cp:lastModifiedBy>
  <cp:revision>3</cp:revision>
  <dcterms:created xsi:type="dcterms:W3CDTF">2026-05-20T09:12:10Z</dcterms:created>
  <dcterms:modified xsi:type="dcterms:W3CDTF">2026-05-20T13:12:36Z</dcterms:modified>
</cp:coreProperties>
</file>